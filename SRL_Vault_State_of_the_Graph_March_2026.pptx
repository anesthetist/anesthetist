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Pausality_Gradient_WHT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1698116"/>
            <a:ext cx="3200400" cy="28216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Poppins"/>
              </a:defRPr>
            </a:pPr>
            <a:r>
              <a:t>SRL Knowledge Vault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State of the Graph,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260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69696"/>
                </a:solidFill>
                <a:latin typeface="Poppins"/>
              </a:defRPr>
            </a:pPr>
            <a:r>
              <a:t>A detailed review of all concepts, evidence, observations, audiences, and outputs in the Somnistics Research Labs living knowledge graph.</a:t>
            </a:r>
          </a:p>
        </p:txBody>
      </p:sp>
      <p:pic>
        <p:nvPicPr>
          <p:cNvPr id="19" name="Picture 18" descr="apple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43998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Poppins"/>
              </a:defRPr>
            </a:pPr>
            <a:r>
              <a:t>Vault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Total notes across all layers of the knowledge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Concept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SKOS-linked atomic ideas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Evidence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Dublin Core sourced studies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130+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Observations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Embodied clinical 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Output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Decks, courses, toolkits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6576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Audience 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Calibrated messaging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6576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222+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Provenance Edges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Evidence-to-claim links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Quality Gate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Every note passes through draft, review, and canonical status gates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3736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Canonical (31)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231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Highest confidence. Peer-reviewed, cross-referenced.</a:t>
            </a:r>
            <a:br/>
            <a:br/>
            <a:r>
              <a:t>31 concepts at canonical status including: Gap Moment Training, Interoception, Neurogating, Polyanchora, Vagal Tone, Resonant Breathing Frequency, NeuroMinute, Minimum Effective Dose, Titration to Effect, Kosha Architecture, Hemispheric Rebalancing, and 20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Review (19)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Undergoing editorial and scientific review.</a:t>
            </a:r>
            <a:br/>
            <a:br/>
            <a:r>
              <a:t>4 concepts: Commoncog Operating Principles, GMT Career Arc, Somnistics Certification, Trauma-Informed Design.</a:t>
            </a:r>
            <a:br/>
            <a:br/>
            <a:r>
              <a:t>13 evidence notes including Balban 2023, Porges 2011, Van der Kolk 2014.</a:t>
            </a:r>
            <a:br/>
            <a:br/>
            <a:r>
              <a:t>2 outputs: Consciousness Engineering, ReadyScore.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7373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Draft (240+)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Active working notes, pending promotion.</a:t>
            </a:r>
            <a:br/>
            <a:br/>
            <a:r>
              <a:t>6 draft concepts including Gamma-State Binding, NeuroEpistemic Layer, Nonlocal Consciousness.</a:t>
            </a:r>
            <a:br/>
            <a:br/>
            <a:r>
              <a:t>80+ draft evidence notes.</a:t>
            </a:r>
            <a:br/>
            <a:br/>
            <a:r>
              <a:t>130+ draft observations spanning clinical, strategic, and product domains.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Poppins"/>
              </a:defRPr>
            </a:pPr>
            <a:r>
              <a:t>Layer 1: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SKOS-linked atomic ideas forming the intellectual backbone</a:t>
            </a:r>
          </a:p>
        </p:txBody>
      </p:sp>
      <p:pic>
        <p:nvPicPr>
          <p:cNvPr id="18" name="Picture 17" descr="apple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43998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31 Canonical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Fully validated, cross-referenced, and peer-reviewed knowledge nodes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645920"/>
            <a:ext cx="2514600" cy="4389120"/>
          </a:xfrm>
          <a:prstGeom prst="roundRect">
            <a:avLst>
              <a:gd name="adj" fmla="val 3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Anterocept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2951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Autonomic Regulation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072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Clinician Durability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192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Co-Regulation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3133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Cognitive Variability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Diaphragmatic Blindness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5546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ExterOryx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675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C89B"/>
                </a:solidFill>
                <a:latin typeface="Poppins"/>
              </a:defRPr>
            </a:pPr>
            <a:r>
              <a:t>Gap Moment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1645920"/>
            <a:ext cx="2514600" cy="4389120"/>
          </a:xfrm>
          <a:prstGeom prst="roundRect">
            <a:avLst>
              <a:gd name="adj" fmla="val 3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Hemispheric Rebalancing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2951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Interoception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8072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Interoceptive Literacy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3192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Kosha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83133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Market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Minimum Effective Dose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85546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Multi-Phase Interoceptive</a:t>
            </a:r>
            <a:br/>
            <a:r>
              <a:t>Coupling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675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Neural Transition Failure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645920"/>
            <a:ext cx="2514600" cy="4389120"/>
          </a:xfrm>
          <a:prstGeom prst="roundRect">
            <a:avLst>
              <a:gd name="adj" fmla="val 3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Neuro-Ouroboros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2951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C89B"/>
                </a:solidFill>
                <a:latin typeface="Poppins"/>
              </a:defRPr>
            </a:pPr>
            <a:r>
              <a:t>Neurogating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8072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NeuroHarmonics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3192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C89B"/>
                </a:solidFill>
                <a:latin typeface="Poppins"/>
              </a:defRPr>
            </a:pPr>
            <a:r>
              <a:t>NeuroMinute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83133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C89B"/>
                </a:solidFill>
                <a:latin typeface="Poppins"/>
              </a:defRPr>
            </a:pPr>
            <a:r>
              <a:t>Polyanchora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Polyvagal Theory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5546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Relevance Realization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3675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Resonant Breathing</a:t>
            </a:r>
            <a:br/>
            <a:r>
              <a:t>Frequency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59" y="1645920"/>
            <a:ext cx="2514600" cy="4389120"/>
          </a:xfrm>
          <a:prstGeom prst="roundRect">
            <a:avLst>
              <a:gd name="adj" fmla="val 3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39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Self-Remembering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39" y="22951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Somnistics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39" y="28072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SomnoAffinity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39" y="33192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State Transition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39" y="383133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Titration to Effect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39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C89B"/>
                </a:solidFill>
                <a:latin typeface="Poppins"/>
              </a:defRPr>
            </a:pPr>
            <a:r>
              <a:t>TransMetachora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39" y="485546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2253A"/>
                </a:solidFill>
                <a:latin typeface="Poppins"/>
              </a:defRPr>
            </a:pPr>
            <a:r>
              <a:t>Vagal Tone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Concepts in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Review and draft concepts advancing toward canonical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645920"/>
            <a:ext cx="4937760" cy="438912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In Review (4 Concepts)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33172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Commoncog Operating Principles</a:t>
            </a:r>
            <a:br/>
            <a:r>
              <a:t>SRL's execution operating system derived from Cedric Chin's frameworks.</a:t>
            </a:r>
            <a:br/>
            <a:br/>
            <a:r>
              <a:t>GMT Career Arc: Seeding, Healing, Fortifying</a:t>
            </a:r>
            <a:br/>
            <a:r>
              <a:t>Three-phase longitudinal model for clinician career deployment.</a:t>
            </a:r>
            <a:br/>
            <a:br/>
            <a:r>
              <a:t>Somnistics Certification</a:t>
            </a:r>
            <a:br/>
            <a:r>
              <a:t>Prehabilitative mental hygiene standard for credentialing.</a:t>
            </a:r>
            <a:br/>
            <a:br/>
            <a:r>
              <a:t>Trauma-Informed Design</a:t>
            </a:r>
            <a:br/>
            <a:r>
              <a:t>Foundational design principle for trauma-safe interventions.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64592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Draft (6 Concepts)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317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Career-Longitudinal GMT</a:t>
            </a:r>
            <a:br/>
            <a:r>
              <a:t>Extended arc model for full career deployment.</a:t>
            </a:r>
            <a:br/>
            <a:br/>
            <a:r>
              <a:t>Finesse vs. Force</a:t>
            </a:r>
            <a:br/>
            <a:r>
              <a:t>Core clinical distinction: precision regulation over brute-force overrides.</a:t>
            </a:r>
            <a:br/>
            <a:br/>
            <a:r>
              <a:t>Gamma-State Binding</a:t>
            </a:r>
            <a:br/>
            <a:r>
              <a:t>Neural binding via gamma oscillations as integrated awareness substrate.</a:t>
            </a:r>
            <a:br/>
            <a:br/>
            <a:r>
              <a:t>NeuroEpistemic Layer</a:t>
            </a:r>
            <a:br/>
            <a:r>
              <a:t>Knowledge architecture bridging neuroscience and epistemology.</a:t>
            </a:r>
            <a:br/>
            <a:br/>
            <a:r>
              <a:t>Nonlocal Consciousness</a:t>
            </a:r>
            <a:br/>
            <a:r>
              <a:t>Frontier exploration beyond local brain activity.</a:t>
            </a:r>
            <a:br/>
            <a:br/>
            <a:r>
              <a:t>Retrocausal Presentiment</a:t>
            </a:r>
            <a:br/>
            <a:r>
              <a:t>Pre-stimulus physiological responses in advanced practitioners.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Poppins"/>
              </a:defRPr>
            </a:pPr>
            <a:r>
              <a:t>Layer 0: Evidence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Dublin Core sourced studies, papers, and books</a:t>
            </a:r>
          </a:p>
        </p:txBody>
      </p:sp>
      <p:pic>
        <p:nvPicPr>
          <p:cNvPr id="18" name="Picture 17" descr="apple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43998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98 Evidence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Peer-reviewed research anchoring every SRL claim to published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Breathing &amp; HRV (28)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Balban 2023, Zaccaro 2018, Lehrer 2000/2020, Gerritsen 2018, Little 2025/2026, HRV biofeedback meta-analyses, humming breathing.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Interoception &amp; Body (18)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Craig 2009, Critchley 2017, Mehling 2012 (MAIA), Farb 2019, Patapoutian 2025 NIH atlas, maternal touch, MAIA-2C validation.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Meditation &amp; Neuro (22)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Sacchet Lab jhana (7T fMRI), Shinozuka 2025, Holzel 2011, Tang 2015, ENIGMA consortium, neurofeedback, gamma coherence.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Clinical &amp; Burnout (14)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Putnam 2025, Cole 2022, Horvath 2021, Wilbanks 2025, Marcucci 2007, Ruskin 2015, mindfulness nurse burnout RCTs.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Polyvagal &amp; Autonomic (10)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Porges 2011/2007, Grossman 2026 critique, Thayer-Lane 2009, Siegel 2012, Van der Kolk 2014, vagal stimulation reviews.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Wearables &amp; Tech (6)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Elgendi 2026, flow state detection 2025, Chung 2021, Lief 2024, JMIR wearable systematic review 2026.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Poppins"/>
              </a:defRPr>
            </a:pPr>
            <a:r>
              <a:t>Evidence Highlights: 2025-2026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Cutting-edge research reinforcing the SRL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373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$14.2M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NIH Interoception Atlas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Patapoutian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7373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7T fMRI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Jhana Brain Reorganization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Sacchet Lab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7373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Substance Use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Lief 2024 RCT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Scholars Debate Polyvagal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Grossman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RCT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Breathwork for Paramedicine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Little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5FC89B"/>
                </a:solidFill>
                <a:latin typeface="Poppins"/>
              </a:defRPr>
            </a:pPr>
            <a:r>
              <a:t>1.8M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Poppins"/>
              </a:defRPr>
            </a:pPr>
            <a:r>
              <a:t>HRV Coherence Sessions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69696"/>
                </a:solidFill>
                <a:latin typeface="Poppins"/>
              </a:defRPr>
            </a:pPr>
            <a:r>
              <a:t>Global study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Poppins"/>
              </a:defRPr>
            </a:pPr>
            <a:r>
              <a:t>Observations and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69696"/>
                </a:solidFill>
                <a:latin typeface="Poppins"/>
              </a:defRPr>
            </a:pPr>
            <a:r>
              <a:t>Clinical knowledge, strategic intelligence, and delivered artifacts</a:t>
            </a:r>
          </a:p>
        </p:txBody>
      </p:sp>
      <p:pic>
        <p:nvPicPr>
          <p:cNvPr id="18" name="Picture 17" descr="apple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43998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130+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Embodied clinical knowledge, competitive intelligence, and product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Clinical Practice (25+)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Diaphragmatic blindness (28/30 fail), 30-40 gap moments per shift, state transition mastery, co-regulation in OR, error archetypes.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Product &amp; Technology (20+)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Anterocept four-layer architecture, VagalBeats 8-layer slider, multimodal biofeedback, NeuroMinute family deck, AI co-regulation.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7373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Strategy &amp; Business (20+)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423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F&amp;F SAFE round ($5.5M cap), Lead Edge gap analysis, three horizons x seven powers, competitive moat is latency.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Market Intelligence (15+)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Daily competitive briefings, newsletter digests, X signals, CE marketplace landscape, TAM keyword intelligence.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Science &amp; Research (15+)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MAIA-2 pedagogical mapping, polyvagal under fire 2026, computational interoception, Harvard NeuroSkill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886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Curriculum &amp; Content (15+)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Gap Moment Codex (11 rituals), foundation breathing scripts, NeuroMinute IFS/IPNB design, somnistics seven principles.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14 Output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Generated deliverables advancing the Five Red Arrows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737360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1737360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801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21-Day NeuroMinute Curriculum  </a:t>
            </a:r>
            <a:r>
              <a:rPr sz="1000">
                <a:solidFill>
                  <a:srgbClr val="4A4D5C"/>
                </a:solidFill>
                <a:latin typeface="Poppins"/>
              </a:rPr>
              <a:t>Progressive 21-session training program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359152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359152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4231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CE Course: MAIA-2 Mapped  </a:t>
            </a:r>
            <a:r>
              <a:rPr sz="1000">
                <a:solidFill>
                  <a:srgbClr val="4A4D5C"/>
                </a:solidFill>
                <a:latin typeface="Poppins"/>
              </a:rPr>
              <a:t>Category A CE with interoceptive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980944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2980944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044951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CRNA Clinical Resilience Toolkit  </a:t>
            </a:r>
            <a:r>
              <a:rPr sz="1000">
                <a:solidFill>
                  <a:srgbClr val="4A4D5C"/>
                </a:solidFill>
                <a:latin typeface="Poppins"/>
              </a:rPr>
              <a:t>Clinical reference with Harvard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602736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602736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6667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Competitive Landscape Deck  </a:t>
            </a:r>
            <a:r>
              <a:rPr sz="1000">
                <a:solidFill>
                  <a:srgbClr val="4A4D5C"/>
                </a:solidFill>
                <a:latin typeface="Poppins"/>
              </a:rPr>
              <a:t>March 2026 investor-ready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224528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224528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8853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State of the Market Report  </a:t>
            </a:r>
            <a:r>
              <a:rPr sz="1000">
                <a:solidFill>
                  <a:srgbClr val="4A4D5C"/>
                </a:solidFill>
                <a:latin typeface="Poppins"/>
              </a:rPr>
              <a:t>March 2026 market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846320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846320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91032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TAM / SAM / SOM Analysis  </a:t>
            </a:r>
            <a:r>
              <a:rPr sz="1000">
                <a:solidFill>
                  <a:srgbClr val="4A4D5C"/>
                </a:solidFill>
                <a:latin typeface="Poppins"/>
              </a:rPr>
              <a:t>Full market sizing for Pausality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468112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5468112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5321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Investor Competitive Responses  </a:t>
            </a:r>
            <a:r>
              <a:rPr sz="1000">
                <a:solidFill>
                  <a:srgbClr val="4A4D5C"/>
                </a:solidFill>
                <a:latin typeface="Poppins"/>
              </a:rPr>
              <a:t>Objection handling quick-response sheet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737360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1737360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1801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Weekly Competitive Briefing  </a:t>
            </a:r>
            <a:r>
              <a:rPr sz="1000">
                <a:solidFill>
                  <a:srgbClr val="4A4D5C"/>
                </a:solidFill>
                <a:latin typeface="Poppins"/>
              </a:rPr>
              <a:t>March 15, 2026 with real-time signals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359152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359152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24231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NeuroMinute Web App Simulator  </a:t>
            </a:r>
            <a:r>
              <a:rPr sz="1000">
                <a:solidFill>
                  <a:srgbClr val="4A4D5C"/>
                </a:solidFill>
                <a:latin typeface="Poppins"/>
              </a:rPr>
              <a:t>Micro-simulator for crisis training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980944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2980944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3044951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Annotated NeuroMinute  </a:t>
            </a:r>
            <a:r>
              <a:rPr sz="1000">
                <a:solidFill>
                  <a:srgbClr val="4A4D5C"/>
                </a:solidFill>
                <a:latin typeface="Poppins"/>
              </a:rPr>
              <a:t>The Sustaining Breath with full rationale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602736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602736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36667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Consciousness Engineering  </a:t>
            </a:r>
            <a:r>
              <a:rPr sz="1000">
                <a:solidFill>
                  <a:srgbClr val="4A4D5C"/>
                </a:solidFill>
                <a:latin typeface="Poppins"/>
              </a:rPr>
              <a:t>Framework for awareness states (review)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224528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224528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428853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ReadyScore  </a:t>
            </a:r>
            <a:r>
              <a:rPr sz="1000">
                <a:solidFill>
                  <a:srgbClr val="4A4D5C"/>
                </a:solidFill>
                <a:latin typeface="Poppins"/>
              </a:rPr>
              <a:t>Composite clinician readiness metric (review)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846320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4846320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491032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GMT Evidence Chain Updates  </a:t>
            </a:r>
            <a:r>
              <a:rPr sz="1000">
                <a:solidFill>
                  <a:srgbClr val="4A4D5C"/>
                </a:solidFill>
                <a:latin typeface="Poppins"/>
              </a:rPr>
              <a:t>Evidence classification proposals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468112"/>
            <a:ext cx="5212080" cy="53035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5468112"/>
            <a:ext cx="73152" cy="530352"/>
          </a:xfrm>
          <a:prstGeom prst="rect">
            <a:avLst/>
          </a:prstGeom>
          <a:solidFill>
            <a:srgbClr val="5FC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55321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53A"/>
                </a:solidFill>
                <a:latin typeface="Poppins"/>
              </a:rPr>
              <a:t>Vault Dashboard: Gaps  </a:t>
            </a:r>
            <a:r>
              <a:rPr sz="1000">
                <a:solidFill>
                  <a:srgbClr val="4A4D5C"/>
                </a:solidFill>
                <a:latin typeface="Poppins"/>
              </a:rPr>
              <a:t>Missing data and promotion audit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22253A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22253A"/>
                </a:solidFill>
                <a:latin typeface="Poppins"/>
              </a:defRPr>
            </a:pPr>
            <a:r>
              <a:t>Audiences and Five Red Arrows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4D5C"/>
                </a:solidFill>
                <a:latin typeface="Poppins"/>
              </a:defRPr>
            </a:pPr>
            <a:r>
              <a:t>9 audience profiles calibrated; progress against strategic priorities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37360"/>
            <a:ext cx="4937760" cy="4389120"/>
          </a:xfrm>
          <a:prstGeom prst="roundRect">
            <a:avLst>
              <a:gd name="adj" fmla="val 5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65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53A"/>
                </a:solidFill>
                <a:latin typeface="Poppins"/>
              </a:defRPr>
            </a:pPr>
            <a:r>
              <a:t>9 Audience 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2316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>
                <a:solidFill>
                  <a:srgbClr val="4A4D5C"/>
                </a:solidFill>
                <a:latin typeface="Poppins"/>
              </a:defRPr>
            </a:pPr>
            <a:r>
              <a:t>CRNA (primary beachhead)</a:t>
            </a:r>
            <a:br/>
            <a:r>
              <a:t>Emergency Department Nurse</a:t>
            </a:r>
            <a:br/>
            <a:r>
              <a:t>Pediatric Surgeon</a:t>
            </a:r>
            <a:br/>
            <a:r>
              <a:t>Corporate Executive / Enterprise Buyer</a:t>
            </a:r>
            <a:br/>
            <a:r>
              <a:t>Investor / SAFE Holder</a:t>
            </a:r>
            <a:br/>
            <a:r>
              <a:t>Academic / Clinical Researcher</a:t>
            </a:r>
            <a:br/>
            <a:r>
              <a:t>Family / Consumer (B2C)</a:t>
            </a:r>
            <a:br/>
            <a:r>
              <a:t>Law Student (BLIP Clinic)</a:t>
            </a:r>
            <a:br/>
            <a:r>
              <a:t>Yoga / Breathwork Practitioner</a:t>
            </a:r>
            <a:br/>
            <a:br/>
            <a:r>
              <a:t>Each profile includes evidence depth, language register, and calibrated messaging frameworks.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737360"/>
            <a:ext cx="5394960" cy="4389120"/>
          </a:xfrm>
          <a:prstGeom prst="roundRect">
            <a:avLst>
              <a:gd name="adj" fmla="val 3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53A"/>
                </a:solidFill>
                <a:latin typeface="Poppins"/>
              </a:defRPr>
            </a:pPr>
            <a:r>
              <a:t>Five Red Arrows (Priority Filter)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53A"/>
                </a:solidFill>
                <a:latin typeface="Poppins"/>
              </a:defRPr>
            </a:pPr>
            <a:r>
              <a:t>1. Clinical Credibility to Consumer Downloads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C89B"/>
                </a:solidFill>
                <a:latin typeface="Poppins"/>
              </a:defRPr>
            </a:pPr>
            <a: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53A"/>
                </a:solidFill>
                <a:latin typeface="Poppins"/>
              </a:defRPr>
            </a:pPr>
            <a:r>
              <a:t>2. Consumer Traction to Enterprise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520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A61AD"/>
                </a:solidFill>
                <a:latin typeface="Poppins"/>
              </a:defRPr>
            </a:pPr>
            <a:r>
              <a:t>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53A"/>
                </a:solidFill>
                <a:latin typeface="Poppins"/>
              </a:defRPr>
            </a:pPr>
            <a:r>
              <a:t>3. Enterprise Pilot to Enterprise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51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A4D5C"/>
                </a:solidFill>
                <a:latin typeface="Poppins"/>
              </a:defRPr>
            </a:pPr>
            <a: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663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53A"/>
                </a:solidFill>
                <a:latin typeface="Poppins"/>
              </a:defRPr>
            </a:pPr>
            <a:r>
              <a:t>4. Enterprise Data to Clinical LLM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983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A4D5C"/>
                </a:solidFill>
                <a:latin typeface="Poppins"/>
              </a:defRPr>
            </a:pPr>
            <a:r>
              <a:t>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394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53A"/>
                </a:solidFill>
                <a:latin typeface="Poppins"/>
              </a:defRPr>
            </a:pPr>
            <a:r>
              <a:t>5. Platform + CEU to Multi-Stream $1M ARR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15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A4D5C"/>
                </a:solidFill>
                <a:latin typeface="Poppins"/>
              </a:defRPr>
            </a:pPr>
            <a:r>
              <a:t>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429000"/>
            <a:ext cx="22860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286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60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63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429000"/>
            <a:ext cx="9144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29000"/>
            <a:ext cx="2743200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0" y="3154680"/>
            <a:ext cx="274320" cy="2743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2651760"/>
            <a:ext cx="182880" cy="5029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51760"/>
            <a:ext cx="137160" cy="137160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52360" y="2468880"/>
            <a:ext cx="182880" cy="155448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468880"/>
            <a:ext cx="137160" cy="96012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429000"/>
            <a:ext cx="4419295" cy="0"/>
          </a:xfrm>
          <a:prstGeom prst="line">
            <a:avLst/>
          </a:prstGeom>
          <a:ln w="2540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Poppin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Randy Graybeal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FC89B"/>
                </a:solidFill>
                <a:latin typeface="Poppins"/>
              </a:defRPr>
            </a:pPr>
            <a:r>
              <a:t>randy@somnistics.com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Jason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FC89B"/>
                </a:solidFill>
                <a:latin typeface="Poppins"/>
              </a:defRPr>
            </a:pPr>
            <a:r>
              <a:t>jason@somnistics.com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Poppins"/>
              </a:defRPr>
            </a:pPr>
            <a:r>
              <a:t>pausality.health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Poppins"/>
              </a:defRPr>
            </a:pPr>
            <a:r>
              <a:t>Somnistics Research Labs, Inc.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Poppins"/>
              </a:defRPr>
            </a:pPr>
            <a:r>
              <a:t>Seattle, WA</a:t>
            </a:r>
          </a:p>
        </p:txBody>
      </p:sp>
      <p:pic>
        <p:nvPicPr>
          <p:cNvPr id="24" name="Picture 23" descr="apple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43998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  <a:latin typeface="Poppins"/>
              </a:defRPr>
            </a:pPr>
            <a:r>
              <a:t>© 2026 Somnistics Research Labs.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Poppin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